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44AC-FFC1-F4E6-F334-D1C83EB2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957F5-EEDD-94DA-4016-770186F11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731B9-4784-4403-908F-E3CF1C41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53F1A-1F9D-D316-618F-0BDAEDD4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FF6EF-6635-D453-5C28-7C60E175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67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5702-C037-A2C6-EE9A-0E47CB40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B25A8-3519-11F3-9B05-223258AFA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B96A6-DA00-CAEF-83D4-3D15CB7F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49188-82E7-DED2-03A5-C8170C58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DBE8-F498-E2CA-5940-7144945A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45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8F3D-BC2D-B02D-9674-BCED2E28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73C4D-B52E-EB57-9ADF-ABC98AAA3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ECC12-2858-4068-FE05-F3803F2A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AC77-05F9-37EF-C406-021C3332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506EB-B086-907B-B528-5D5450A0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44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8070-5085-1AA3-307F-9DE6718D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9853-A580-30E2-40CA-E132E53AB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D4CC0-5653-8E0D-9BA2-A23665315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87152-3CDC-6ABC-1174-350BB2BA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AA6CC-77BC-9799-9005-F707B3E21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DB16D-A07A-D93C-6470-47AFD730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80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A546-F621-23CD-17CB-ADC27DFF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10E63-B8A9-E32A-5425-45F572347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5AC55-DF64-BCC4-B54F-899632808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F6DFC-3856-630D-98D4-2E4025D6D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2BFE7-0D68-5899-ADF8-C7680A691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10A3E-41C1-6C51-4733-2032B409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72CE0-D67F-77E9-232B-1344F3C1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D5249-D616-916B-AD4E-237521BC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4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0029-679B-88AC-836B-D28C4548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B6C17-76CF-DBCF-A914-6BD63331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5139C-A9C8-886B-2CBD-4E8FADB7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047EC-CBFE-2E3D-EA60-023839FB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82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D1DAD-3A7B-BF26-59A3-CBD9BBA8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40174-5800-E31A-F493-5AA286A4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53EF3-4B98-061A-1167-E6C226E6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6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B69E-A642-31E5-A866-BA0C512D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D8E6E-0BD9-F939-7532-A3DCB9558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E5CFA-76DF-FEC4-2180-41F4C9FA0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6531D-C57E-DBE7-5986-11A25123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B945F-9D6C-DB46-87D2-90BE4D63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2F129-5981-E427-FF7B-EF11B437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5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E02A-DA41-8828-B7EA-F0AEF9B0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EB4CD-6344-0823-C0F8-B6B50DCFA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BF200-C84B-F821-D220-9A91DA46F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C0823-CFC6-7969-F52D-91A093E7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E2B2E-CB67-5E42-D5FF-750491A9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7D30F-C13C-419C-7E4C-4B8DF67A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03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A956-A676-0756-29A2-FEB6919E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9A99F-D64B-E1D3-A6CB-8C21F094E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7D9AC-AD3D-CD8F-F870-FAF9AD4E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454C-6634-FC93-7DE4-74B09726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1E293-54C4-917A-A5BD-BD664D2F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99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2C071-D8E2-3149-8329-461E377DE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EAC0-712E-C683-7282-072A12BFB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9A6E7-3A41-060A-7674-C8B00116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2DA38-5686-9EE6-D1BC-91D928AA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528CE-624E-BC64-CD8E-AE478C2CE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04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CB810-F4B3-717E-551C-CFAF57ED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679C7-08B5-0B2C-DFDF-B9CF29502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B17E-2346-BACC-F34F-CCDB17871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DD530-A56E-4C8A-B7B7-1F5002A2DA39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4F305-ABA7-38B6-3DD2-57E6FCBA1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2BCC5-8084-2785-AAE8-CB5C904B5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80DAF-A709-4C1E-ADEE-2C3CE6057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51FB93D-3A1B-76F0-84BA-2FAEF5AD3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540565"/>
            <a:ext cx="5846429" cy="37768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CF0CE5-23FF-893D-1F39-741216107D5E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7FDCE-96EA-73F6-22F0-4A0AB072BF62}"/>
              </a:ext>
            </a:extLst>
          </p:cNvPr>
          <p:cNvSpPr txBox="1"/>
          <p:nvPr/>
        </p:nvSpPr>
        <p:spPr>
          <a:xfrm>
            <a:off x="698500" y="9906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00" b="1">
                <a:solidFill>
                  <a:srgbClr val="4B46B2"/>
                </a:solidFill>
                <a:latin typeface="Aptos" panose="020B0004020202020204" pitchFamily="34" charset="0"/>
              </a:rPr>
              <a:t>DASHBOARD INTRODUCTION AND METRIC GUIDE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342BF-EC4D-3808-B5CA-8D9A9119C6F3}"/>
              </a:ext>
            </a:extLst>
          </p:cNvPr>
          <p:cNvSpPr txBox="1"/>
          <p:nvPr/>
        </p:nvSpPr>
        <p:spPr>
          <a:xfrm>
            <a:off x="698500" y="1422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1C1F2B"/>
                </a:solidFill>
                <a:latin typeface="Georgia" panose="02040502050405020303" pitchFamily="18" charset="0"/>
              </a:rPr>
              <a:t>BeyondGrades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A3B90-5596-A677-ED0B-6DBE2827DE84}"/>
              </a:ext>
            </a:extLst>
          </p:cNvPr>
          <p:cNvSpPr txBox="1"/>
          <p:nvPr/>
        </p:nvSpPr>
        <p:spPr>
          <a:xfrm>
            <a:off x="698500" y="19558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1C1F2B"/>
                </a:solidFill>
                <a:latin typeface="Georgia" panose="02040502050405020303" pitchFamily="18" charset="0"/>
              </a:rPr>
              <a:t>Learning &amp; Growth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02A07-BD95-BBC3-5A2A-DEBAD3FBF876}"/>
              </a:ext>
            </a:extLst>
          </p:cNvPr>
          <p:cNvSpPr txBox="1"/>
          <p:nvPr/>
        </p:nvSpPr>
        <p:spPr>
          <a:xfrm>
            <a:off x="698500" y="2489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3400" b="1">
                <a:solidFill>
                  <a:srgbClr val="1C1F2B"/>
                </a:solidFill>
                <a:latin typeface="Georgia" panose="02040502050405020303" pitchFamily="18" charset="0"/>
              </a:rPr>
              <a:t>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CB08A-2F3F-8E2A-B25D-580D17E3389D}"/>
              </a:ext>
            </a:extLst>
          </p:cNvPr>
          <p:cNvSpPr txBox="1"/>
          <p:nvPr/>
        </p:nvSpPr>
        <p:spPr>
          <a:xfrm>
            <a:off x="698500" y="32004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600">
                <a:solidFill>
                  <a:srgbClr val="5D6374"/>
                </a:solidFill>
                <a:latin typeface="Aptos" panose="020B0004020202020204" pitchFamily="34" charset="0"/>
              </a:rPr>
              <a:t>A component-by-component guide to what the dashboard shows, how each measure works, and how to interpret it.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B89FCC-D656-1362-87BD-AA440394E0C1}"/>
              </a:ext>
            </a:extLst>
          </p:cNvPr>
          <p:cNvSpPr/>
          <p:nvPr/>
        </p:nvSpPr>
        <p:spPr>
          <a:xfrm>
            <a:off x="698500" y="4470400"/>
            <a:ext cx="2921000" cy="431800"/>
          </a:xfrm>
          <a:prstGeom prst="roundRect">
            <a:avLst>
              <a:gd name="adj" fmla="val 8000"/>
            </a:avLst>
          </a:prstGeom>
          <a:solidFill>
            <a:srgbClr val="E9F8F2"/>
          </a:solidFill>
          <a:ln w="12700">
            <a:solidFill>
              <a:srgbClr val="E9F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FB04E-8089-B729-5AC9-44FD25042086}"/>
              </a:ext>
            </a:extLst>
          </p:cNvPr>
          <p:cNvSpPr txBox="1"/>
          <p:nvPr/>
        </p:nvSpPr>
        <p:spPr>
          <a:xfrm>
            <a:off x="863600" y="45974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00" b="1">
                <a:solidFill>
                  <a:srgbClr val="199670"/>
                </a:solidFill>
                <a:latin typeface="Aptos" panose="020B0004020202020204" pitchFamily="34" charset="0"/>
              </a:rPr>
              <a:t>Prepared for management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106DE-175F-5EEA-18FC-5C1955CA70D2}"/>
              </a:ext>
            </a:extLst>
          </p:cNvPr>
          <p:cNvSpPr txBox="1"/>
          <p:nvPr/>
        </p:nvSpPr>
        <p:spPr>
          <a:xfrm>
            <a:off x="698500" y="5461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Prepared by Yap Shen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29B9A-AEBD-80D5-70C4-FC82C3C96D0F}"/>
              </a:ext>
            </a:extLst>
          </p:cNvPr>
          <p:cNvSpPr txBox="1"/>
          <p:nvPr/>
        </p:nvSpPr>
        <p:spPr>
          <a:xfrm>
            <a:off x="698500" y="57277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16 August 2026</a:t>
            </a:r>
          </a:p>
        </p:txBody>
      </p:sp>
    </p:spTree>
    <p:extLst>
      <p:ext uri="{BB962C8B-B14F-4D97-AF65-F5344CB8AC3E}">
        <p14:creationId xmlns:p14="http://schemas.microsoft.com/office/powerpoint/2010/main" val="174250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4BCD150-7D2E-4E7C-277E-E981D90DC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509" y="1428750"/>
            <a:ext cx="5685121" cy="4000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D18E8A-6B70-2FE8-AE78-CF984F3679F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50493-C1C4-C0C9-82E3-C161ED476989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DASHBOARD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A749B-E458-B9F7-64F3-0F2D8074BE64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What the dashboard is designed to answer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38610-E570-1C5F-AD4E-673316852EA9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5BA857-C036-337F-A0E4-6386D3BA73E0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C6431-AF67-F244-2725-6B7B3710E17A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D3F8F-FB34-9A12-81AB-63BBAA763ED0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A7AAE-D150-08FB-867B-F040C6CA0AD7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 dashboard separates traffic, account activity, course engagement, progress, and business follow-up so one number is not asked to represent every outcome.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DFAD66-C227-D385-5E5D-AC5A472C1229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4256-B104-141C-8F7B-77D3E22C96DD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E49FF-0388-317B-5127-3C3DDE9B60BA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Who visited and whether they signed in.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Who reached and meaningfully used course content.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Which resources attract, retain, and progress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Where paid adoption or follow-up opportunities exist.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963FA-128A-C16B-31DE-B661AC90113E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78C00-6807-4BE4-7014-E39E709058D3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D954C-89DF-DE8D-AF52-9C618253846C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Raw events and progress history are filtered to one Singapore calendar period.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Internal and test accounts on the ignored list are removed before rollups.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selected course is applied before course-specific metrics are calculated.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83AEE0-743B-9490-26BF-D3996793FDE0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7BF060-2B6A-51E6-E766-24DFC267D38F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6C479-9AC3-88FF-13AB-FC3CC008306E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The measurement ladder is: site visitor -&gt; signed-in active -&gt; course active -&gt; meaningfully engaged -&gt; resource completer. Each level answers a different question.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F4E63A2-58D4-6369-1270-A268A991F7A6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C37ED2-1217-8F37-EA38-D2139B2F6B84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F5F17B-7C01-1CA3-5CE7-510B35AF9502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E7E5CC-0DAB-492A-ACE8-892744CBB3A1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the layers together. Engagement and completion are behavioral evidence, not proof of learning impact.</a:t>
            </a:r>
          </a:p>
        </p:txBody>
      </p:sp>
    </p:spTree>
    <p:extLst>
      <p:ext uri="{BB962C8B-B14F-4D97-AF65-F5344CB8AC3E}">
        <p14:creationId xmlns:p14="http://schemas.microsoft.com/office/powerpoint/2010/main" val="323170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1FBF6C-DD2A-578F-2975-646B5847265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00AB4-69FB-3025-44EF-F898D1597F66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E9763-EA6A-F53A-70DB-C71D9B8ECFF5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Course and reporting-period filters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AC989-2FEC-E43D-5302-FDD6F3984F0A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780D7-7F56-70CE-0652-4CA74DA7FE31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84AA1-BA45-D168-963E-EDBC41B6422D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C129F-75A7-2CD4-826E-ED10CCC0880F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37D60-63A2-CC57-0A37-338744663D14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These controls determine which course activity and which Singapore calendar period are used throughout the dashboard.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77B21E-23F4-5A81-B25A-495FE1EE6D35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1AF58-01C4-B62E-1BCF-188B47080A8E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9DD97-BA5C-493C-5775-BCB09119C121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All Courses or one individual course.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Week, Month, or Quarter reporting mode.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chronological period list from the earliest available data to the current period.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CDB3AF-A1BC-6AF9-6B76-F5FBD0FF1532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92EB7-ADA1-D770-C6E5-29EAA869CC07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9ACD5-E6B1-6709-C58D-8E94DE930A51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Weeks run Monday to Monday and use labels such as W3 Aug 2026.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Months run first day to first day; quarters begin in Jan, Apr, Jul, or Oct.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current period is partial and ends when the report is generated.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139DF5-A082-2CA9-7B88-966FA206C6E5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5B78E-DB55-CF8A-B66B-9842A4BEF750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567100-16B0-339C-1B02-C2CB5DD53DAE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Completed periods use occurred_at &gt;= period_start and occurred_at &lt; period_end. All boundaries are calculated in Asia/Singapore.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7C10CB-9DC5-9471-14C8-A1D7F877400A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1DD6ED-5B6A-582B-528D-7583BF0A2AD8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590B22-7A00-F4AB-9AB4-CE31334EED89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B4E9CF-83B8-0A55-8C0E-12F5B9B45DC6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Set the filters before reading or exporting results; course KPIs change with the selection.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D56CF5C-83B6-9DF1-5C6A-C28C6CDB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71918"/>
          <a:stretch>
            <a:fillRect/>
          </a:stretch>
        </p:blipFill>
        <p:spPr>
          <a:xfrm>
            <a:off x="7338414" y="2857308"/>
            <a:ext cx="1551586" cy="1743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93F58B9-568B-B3FF-1FB4-6E6359E13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067" y="1801038"/>
            <a:ext cx="1648055" cy="32675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1284A79-7FED-945C-880B-2C721D71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82" r="30436" b="58342"/>
          <a:stretch>
            <a:fillRect/>
          </a:stretch>
        </p:blipFill>
        <p:spPr>
          <a:xfrm>
            <a:off x="6949865" y="1801038"/>
            <a:ext cx="2292002" cy="7262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261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5201D948-6FF7-51C5-AADE-0D9DF409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4"/>
          <a:stretch>
            <a:fillRect/>
          </a:stretch>
        </p:blipFill>
        <p:spPr>
          <a:xfrm>
            <a:off x="6301785" y="2428857"/>
            <a:ext cx="5519329" cy="19216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BD229E-EA8D-1B6C-0C74-596D515BD25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D974A-86D1-8A68-4087-416FEC30B762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A09D5-AD0A-AD5C-444D-942C871297F3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Refresh and CSV export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3C7EB-2C13-1EAC-8158-59FBCD65A36D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27105-FE83-F65C-ECF5-7BF6E34543DC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F8783-27DC-8E6C-AF1A-D5DEA6F3B14C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706123-20DA-4D9E-1C57-7EE6C71D842A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F974A-142A-02BE-5C50-1647C82A5C1F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 action buttons update the selected dashboard view or export its most decision-relevant tables for further analysis.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BCAA1-3B13-701B-68D3-493E6AB0C367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A9418-08C4-E6A0-DED9-13913401F11F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4F9C81-052D-3B7C-7127-D7B4B2F2D4F3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Refresh reruns the analytics request for the current filters.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refresh icon spins while updated data is loading.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Download creates a CSV from the currently loaded selection.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FE7E0-5BFD-04B6-2A09-76C2CDFF7238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FD743E-E60A-6649-0739-D97E0D3A8ED9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DCC6C8-042F-7E3E-9C9D-FA7500562269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CSV sections include KPIs, resource performance, top users, and funnel rows.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export does not currently include every diagnostic or follow-up panel.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Refreshing does not change metric definitions; it only retrieves current data.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DD2937-54A0-4E74-2BB5-1E992966E033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FA4B9-F664-CAC6-B98C-2F4169F3C8BE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F17D2-4493-C881-7CEC-2B925068D692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No separate calculation is introduced. Exported values reuse the period, course, exclusions, and formulas already applied to the displayed summary.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85A66D-3B72-2BAF-DC92-CCFDD0F0A6B2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5F238-7280-7F88-4CC0-BD7AEE32E280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10A1CF-6AF5-FA41-4ED6-A5BE13A86C21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72EC17-91BB-46C9-5675-95AD4438560F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CSV when the selected view needs to be archived, compared, or worked on outside the portal.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919EDF-A1AE-CB6F-6A81-B53D72D52680}"/>
              </a:ext>
            </a:extLst>
          </p:cNvPr>
          <p:cNvSpPr/>
          <p:nvPr/>
        </p:nvSpPr>
        <p:spPr>
          <a:xfrm>
            <a:off x="10718359" y="3429000"/>
            <a:ext cx="940242" cy="6325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1439ED-3891-31F8-475E-BE671D5F9253}"/>
              </a:ext>
            </a:extLst>
          </p:cNvPr>
          <p:cNvCxnSpPr/>
          <p:nvPr/>
        </p:nvCxnSpPr>
        <p:spPr>
          <a:xfrm>
            <a:off x="10392355" y="2019300"/>
            <a:ext cx="567745" cy="1371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7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47AB68-F882-EE07-F771-D4666B3CFC8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84F02-14B5-61ED-BBC3-D5AEE8FEF5E6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76E05F-456D-5CE5-B94B-8EFB5DD0D342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Reporting context and total site visitors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275FA-D0F0-7C0A-7742-3FA1AFC07F9D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03FF3-28C3-AA55-4ABE-8EFF37F30797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40B34-AB5B-F73D-9C52-0AA5659057B1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C6003-32DA-BB67-44E1-0617C0D640BA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AB7DF-711F-6F0D-C412-97EAEFFA0C98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 strip confirms the exact reporting window, selected course, and broad site traffic before the reader reaches the course KPIs.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DCD71-FF92-BCF2-8678-46AF58DAB690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9C72A-86ED-4D02-500D-A41B0F024528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DEEEC-B43D-996C-D8C1-460CF90CD547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Full period label and displayed date range.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All Courses or the selected course name.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Total site visitors during the period.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1FD57C-9E6E-1FD0-F143-BA308BD83722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C9C7BF-CA27-E95D-FC61-23976CCD06DB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3DBA37-BEC7-F1C7-9782-37A12FD7B2A2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Site visitors are based on raw events, not registrations or progress alone.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signed-in event uses internal user ID; otherwise it uses anonymous browser ID.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Pre-login and post-login identities are not retrospectively stitched.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AB7ACF-D9FA-1EBA-3DA8-BB927FBBF15F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40983-9A36-8988-C2D2-3DE9273E2DA8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7152D-43B5-C948-3942-55967A03B446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Total site visitors = count of distinct event actors in the selected period. One person can still be duplicated across browsers or identity states.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F5CDAE-D37D-E3B4-5B59-0EF631D833E2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5BA35E-FAE5-BD8A-761E-319DC18404CA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A29230-360A-CE88-F95A-20E87C96FB77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1AB777-51A9-D4D1-6D91-0C627F63E5BF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Treat this as traffic context. Signed-in course metrics are more reliable for learning-content use.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E5C84B6-99CB-9A10-DEBB-965E29495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24"/>
          <a:stretch>
            <a:fillRect/>
          </a:stretch>
        </p:blipFill>
        <p:spPr>
          <a:xfrm>
            <a:off x="7942138" y="3213079"/>
            <a:ext cx="2624262" cy="10860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E5F386E-5EDE-F838-7379-A2A82C4B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365"/>
          <a:stretch>
            <a:fillRect/>
          </a:stretch>
        </p:blipFill>
        <p:spPr>
          <a:xfrm>
            <a:off x="7598036" y="2088977"/>
            <a:ext cx="3312466" cy="1086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129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29B0DF-3E8F-4D6F-03C1-B288E0A63F0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68013-CC2B-B05B-5700-48270A60BD87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EXECUTIVE KPI 1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C9C26-F051-11E2-3B07-04BC6D870FEA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Meaningfully engaged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A0DBA-4BA0-9A80-4D5F-73467F1DA797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9C304-A533-12FE-C807-0807742E3B22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EDC84-5E92-6A49-AB98-B47A0E49D576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37294-3141-17D1-8C56-99653112975A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D7DC4-AE3C-20BE-D1F4-25CF9392A39E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 primary engagement KPI counts signed-in course users who did more than a likely accidental preview during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3F590-F072-CE96-1993-E120CFA274AF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A86CE7-294C-DD3F-1710-DD783F3349E3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3E72C-C14B-9541-0726-E35506309973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unique-user count as the main value.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percentage of course-active users as supporting detail.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One combined classification across several valid engagement behaviors.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A790D-2484-BE55-C4D6-35DCE5D1F3CB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6A2C3-3F3C-8CB3-4223-17EA9F2A2611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148B3-313D-CA36-6A74-46E0BD0077FF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user qualifies by meeting any one threshold: two resources, three visible minutes, 25% progress, completion, or download.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Visible-time increments are capped at 120,000 ms before summing.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Only signed-in, selected-course activity is included.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9907F1-AC83-FCA7-6B9F-B581D0FE0E8A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15B02A-266E-9D1E-BE95-EE3E708C28A5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63310-3B6B-5218-77E6-367CA81F22E9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Meaningful engagement rate = meaningfully engaged users / course-active users x 100. It is 0% when no course-active users exist.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9D1D98-11F2-4F21-BF79-D51C973E7C90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7F6ECE-09DA-542F-D994-7EE687DC2F8A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D13C14-0777-667A-0BE1-80EBE6545FD7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138DA5-37DE-0D78-74C7-2E4C6EFFA690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This is a versioned behavioral definition. The thresholds are product hypotheses, not proof of learning.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914C494-C45A-E3CE-5A1A-6F4A951A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750"/>
          <a:stretch>
            <a:fillRect/>
          </a:stretch>
        </p:blipFill>
        <p:spPr>
          <a:xfrm>
            <a:off x="7926070" y="2027415"/>
            <a:ext cx="2496497" cy="24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0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5B36CC-E65B-A294-637B-E15DEA9AC5A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4E1CA-EA39-6B14-EB24-B97AEC0190A8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EXECUTIVE KPI 2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C96DE-DAF1-53C9-6565-AF7200EF7793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Course active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B1559-2B95-ABA2-0DA8-BF9D237686B4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074A37-508C-85EB-6E27-86B7FE6F6EE8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EE098-8FDB-8CE8-C89B-D9612BA7FD89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8E389-B12C-C5B7-50F6-00695D090DA2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142B7-B258-2B28-9D64-399B3CF7E6D0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KPI measures signed-in reach into the selected course, regardless of whether the activity was deep or brief.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35F8B7-7BD2-AD7B-D48F-A80529C4428A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266A93-0592-5F6C-E144-6B875FE3AEA7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EFC53-D1CA-8FE1-761B-0B8AE9F69B4F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Distinct course-active users as the main value.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Signed-in active users as contextual detail.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direct bridge between general account activity and course use.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442E13-304B-D5FF-5642-8531C4DACD98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A3252C-4BA9-9AB1-2CF0-EEF75C93E208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89DAB-C883-0F33-16BD-A1BCDF94D70E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Qualifying signals include a course page, course resource event, visible resource time, download, or non-reset progress event.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course filter is applied before users are deduplicated.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One shallow preview is sufficient, so this is a reach measure.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9F3CC6-B209-A30E-F534-E7EDE0EFB2DC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75BD61-7EBE-297F-370E-7E1AD0DABF80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90DAFE-6077-BA53-117A-5A5CDB5CF97A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Course active users = distinct signed-in user IDs with at least one selected-course signal in the period. Funnel rate = course active / signed-in active.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8825D5-1D64-00B6-4FE8-66B167C4A827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C81F1B-9356-1DA5-4AB9-3F8EB81777D8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884DE5-292A-D30D-6405-860ECA9D9565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C73DD1-A1A8-8AB9-E5D8-BDA1C9BF7636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Compare this with Meaningfully engaged to see how much course reach becomes substantive use.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2435B7-F617-8CB0-C138-920B6B975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" r="1197"/>
          <a:stretch/>
        </p:blipFill>
        <p:spPr>
          <a:xfrm>
            <a:off x="7926070" y="2027415"/>
            <a:ext cx="2496497" cy="24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9008C0-63D5-41E6-ACFB-E6E29CFAB61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521C6-1A8C-2702-6185-A6D86A5ACBDD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EXECUTIVE KPI 3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B5C47-EB6E-8CC9-DF7E-BB5088EC2659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Resource completions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971A0-6782-D17F-27E5-FD8511A53D97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118C7-ECBA-63FB-5260-C12BA4E28D97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24C929-4816-C75A-5E22-414B5BBBC443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B10B4-8F8B-8381-2521-6F18923EEC58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FAFE8-2CFF-DE7C-A4B5-52BE8729BA30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card separates the number of completed learner-resource relationships from the number of people who completed something.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462F99-A23F-CEB7-E8CF-4B54AFE810C4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DABB7-42F7-B9A3-E11A-45AB497D47EC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6F944D-3811-0AEF-67B0-6DC639467332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Unique completed user-resource pairs as the main value.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Distinct users with at least one completion as the detail.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Completion transitions from progress history, scoped to the period.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1CC748-F2F8-D7AC-6E0F-E8F48E58DCCB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C419D-8B36-0A55-EF22-3B019CF3879C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888C0E-5DA5-D507-7DBE-2637072B8275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completion requires a completed progress event.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Repeated completion events for the same user and resource count once in the period KPI.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Daily trend completions remain event counts on the day they occurred.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0CAEF6-9389-08D6-41F9-6C4F7837E2E0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61A12-7500-DE42-0C4A-68684B891ECD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523FD8-FDBD-DF39-DF96-3A7379CC56BA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Resource completions = count(distinct user_id, resource_id) with completed event. Unique completers = count(distinct user_id) among those pairs.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F296DD-DA84-C250-D4EE-AD44430EDB35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160EBC-42C4-61D6-297F-7FD2C96BB980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6A0A95-73D4-C562-2C8D-BDD6C17E4183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F29859-19AF-7ADD-600D-728AAC3BB10B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Read both figures: one person may complete several resources.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1B8A22A-1869-5E15-06E0-E3F2BEC97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" r="146"/>
          <a:stretch/>
        </p:blipFill>
        <p:spPr>
          <a:xfrm>
            <a:off x="7926070" y="2027415"/>
            <a:ext cx="2496497" cy="24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6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00C2C-96D5-BC0C-D2E3-4816B664779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EF225-0149-56AE-BFC6-7F4469A06C70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EXECUTIVE KPI 4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6DF50-5296-64FB-6B5E-01C97962760E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Repeat engagement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C5A5E-BD68-E4B2-B376-8FA53D3F4D80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A336B-CA19-12F8-074F-94476EE4971B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EF5AE-FE5F-CEA1-F733-F9A0E0B6C52B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F6D26-6AB6-B97D-7293-417F16EC8F4B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253EB-97B2-35B8-7056-C38F4362CAF1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KPI shows whether course-active users returned on more than one Singapore calendar date inside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BF5E2-1953-5489-5EA6-502D29822141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8A48F-034B-5719-9DF8-1EFCF802E04C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29F52-0CF5-B61E-F856-0FB25D5B63C5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Repeat engagement rate as the main value.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Number of users active on two or more days as the detail.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Return frequency within the selected week, month, or quarter.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4C646D-3726-35A4-D75F-E982B0FEC316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2F994-B0EC-68C3-A679-ECC96D8015C4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FF80B9-6012-7688-1EA4-C6E67662EA55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Course activity dates are deduplicated in Asia/Singapore.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user must be course active on at least two distinct dates.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This is within-period repetition, not later-period cohort retention.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AFBDA6-1771-B150-A128-5C7453DD2289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BCE25C-7C00-6DE1-FC7D-16AAF447F103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AF9AB5-72FA-A04F-4BA1-ECA7139F98DD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Repeat engagement rate = repeat users / course-active users x 100. It is 0% when no course-active users exist.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83D120-E064-7C7F-B321-54927287E71C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E0820-ABAF-DD48-8DD8-2B598037E0C3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F93833-A946-D15B-4C0C-F9AA03094CA2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EEBB10-11E4-C9D5-01AD-DC4EBDD5510C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to identify repeat use, but do not label it retention without a first-use cohort.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75794AF-5E3C-747D-253F-01CA02D6A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/>
        </p:blipFill>
        <p:spPr>
          <a:xfrm>
            <a:off x="7926070" y="2027415"/>
            <a:ext cx="2496497" cy="24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2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48FAB4-0775-A4D4-1159-CA66AF6DCE4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404AF-EF46-3C81-D989-24576295D68C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EXECUTIVE KPI 5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CC9FF-9154-4D3A-9007-9F31718CF33B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Paid adoption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1AE77-ADA2-7167-DBBA-5FF5E3272101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DF698-74E5-00B9-C8DF-00CDD071E500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F3FC9-B898-42DA-0311-0E0555DD1331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9472D-84F7-2728-7125-1C645638A624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5397F-980D-AB5E-9F64-FBB0C6939FBD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card measures whether users entitled to paid content actually became active in an eligible paid course during the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61641-6EF5-28D6-9EA0-2CF8E5322DBA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DB968-6FD0-3981-CD6C-ABF224E3A59C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ADF58B-D07B-6437-97D4-6ACDB6E13F61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Paid adoption percentage as the main value.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Activated and eligible user counts as supporting detail.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no-eligible-users message when the denominator is empty.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ADDA3C-AB35-50D6-A6D1-E460881FFAD8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CFD48B-732F-63DB-F41A-39D1B9E671FC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51CDF1-C575-16F6-3F59-299619198A30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Eligibility requires a non-free entitlement overlapping the period.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Activation requires course activity in a paid course for which the user is eligible.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All Courses uses the union of eligible users across paid courses.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25328D-715F-2609-1CD5-1F3F29C92812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FB401-EB3B-C15B-96AE-9E2663EECDB2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322DEB-8D01-9AB0-26E2-F76EEB8231B6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Paid adoption rate = paid activated users / paid eligible users x 100. It is 0% when no eligible users exist.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3AC21AE-0D2E-0DB0-7FF1-41F921679A4D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6BE51E-E0BE-AD38-A8BC-C56237D75070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1ADAC2-8A40-497E-A8A7-EC298A27173C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0660F-A158-65A5-9F89-53A250AE7ADB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This reveals access that is being used, not merely granted.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84BA7BE-3315-85D9-B93B-0BD617B9A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/>
        </p:blipFill>
        <p:spPr>
          <a:xfrm>
            <a:off x="7926070" y="2027415"/>
            <a:ext cx="2496497" cy="24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3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7F317C-822F-FE1B-0DD9-0C61BB02AA0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88955-5A31-EF45-D01E-2C2F44CAFBCC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EXECUTIVE KPI 6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3524B-D5C8-16E1-9C1D-A44041ED4AE1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Average progress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73163-4469-2C4B-100B-63F56DD6F189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8071B-C295-3419-E6D0-57F2F1636266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7A0B4-A678-A17A-6FD1-829FE800B387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81B36-999D-0490-DF0F-BCDA20F49929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C65B6-443E-B611-9DF0-3404B428C056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card summarizes the observed progress of resource starts without allowing repeated updates for one resource to dominate the average.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C30700-0BE3-0417-300D-90A59C2C7CA5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1E5C2-B0CE-08F1-7B91-2EBA08C6B6A9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CA8A7-AEEF-BF15-7A8B-36563C64FB08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Average maximum progress as the main percentage.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Number of started user-resource pairs as context.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Progress from the selected course and period only.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E0CF43-4F3D-2450-83D4-DA125CAE4BAC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7D515-FC05-2D01-AA91-86441CD90629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F6099-2D08-99D4-D3A3-1EBC3B4988DD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First take the highest progress recorded for each signed-in user-resource pair.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Keep values above zero, representing started resources.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Then calculate the arithmetic mean across those pairs.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4D6311-911D-E718-FB50-B10D1716177A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18D782-3247-59C1-2B83-F150A9C870AD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544C7E-9AEF-CCEE-76D9-584EC886D186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Average progress = sum(max progress per started user-resource pair) / number of started user-resource pairs.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03D2DC4-83DA-F915-DD15-36E175DE06FE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98660E-651C-4CC4-04A1-4EE944974D9D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0C489C-FD40-3CEE-FA46-30840D0D8821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42AC94-7912-FC77-8CBD-00D74A116323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Always read the average with its sample size; median progress is available in supporting API/resource data.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226933-3FB1-CFCD-FB5D-A5EA37B29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" b="626"/>
          <a:stretch/>
        </p:blipFill>
        <p:spPr>
          <a:xfrm>
            <a:off x="7926070" y="2027415"/>
            <a:ext cx="2496497" cy="247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8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211FA2-617A-96C1-C788-2BF26D0354C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8F998-FE50-ACA1-D690-47B9F68FE19A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TREND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E5789-AEA9-7542-A08F-D57024257F57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Engagement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E7DE1-3769-251E-AAA9-B33B7CEB1649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2201D7-3273-DEE0-99F3-40354F8E6A51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BC982-232D-CD61-3A1A-796E82BCE178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DDC62-8F4D-AAAC-8EF2-F62754D60645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E2A71-2257-E5B5-85E0-E3ECD05331D6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 grouped bar chart shows how course reach, meaningful engagement, and completions vary by Singapore calendar date.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3796DC-F50E-8608-8C86-FB8F0B9682E5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2EA0D-3D73-30E1-80F9-2C8994098F00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0E65E-59AF-7D3B-72CE-7ED5F5B00860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Indigo: course-active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Green: meaningfully engaged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Amber: completion-transition events.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Hover values and the report generation time.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053E0-C8AF-5B37-D852-8CF8F9B9F659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63469-A990-29CB-7FB5-90AF0E2CD97C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62201-8605-DBBA-CAEA-3A48FF1C2F10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Each date is recalculated independently from that day's signals.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user can qualify across the whole period without qualifying on every day.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For periods over 45 days, every third daily point is shown for readability; values are not combined.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9E9E96-CCF7-DC25-BBF7-A728911714B8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053168-6845-D85B-6E3E-ACA485E35113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92BF17-9A4C-C4FD-7332-4B5A155C0A8E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Daily user series are distinct users for that date. Daily completions count transition events, unlike the period KPI that deduplicates user-resource pairs.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41A2805-4A70-0AEA-5FF1-3D8A1D5EF415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3B930D-8243-3949-0313-691BF6264490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A31A99-869B-EB15-6DF3-93DDC25F4B8D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3CD3DC-0EF2-FDFD-AE83-682357BC6A4E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the chart to locate timing patterns, then investigate causes rather than assuming them.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E894D0-CD98-63D9-D779-6B5D594F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0" y="1961214"/>
            <a:ext cx="5841949" cy="285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23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B219C5-3B6C-7C58-F038-5A55D25831B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68DE6-9190-3B40-3C49-18F810309E66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CONTENT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0DD20-E0E6-E9C6-DF69-9BE902315D3D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Resource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428DB-8DA1-02AF-2C9D-D9422DA56DC9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A1150E-1867-E0B7-9ECD-E20892193DAE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A85F8-4FCA-AEBA-2280-9DF651B0DAFE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4C41E-B9FC-DDED-2E1F-D87AB96DAF8B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FBE26-8E5A-7E98-4C31-0D8D5A635676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scrollable ranking separates content reach, reuse, progress, and completion instead of relying on raw views alone.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EB9088-91BF-82B0-7472-6DBF916FE35A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19470-1CEE-C4E0-8885-B1AEC55DF0A4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B4987-0A2C-939B-8747-91A78E661F72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Title, course/type, viewers, progress bar, opens, starters, completions, completion rate, and repeat viewers.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20 resources in the selected course scope.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Average progress represented by the green bar.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E39B88-F738-9B67-5E5D-B8FA34C4EE67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F7FD5-3ABB-EF23-BA15-45DBF36BF350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C44E94-E6C0-3419-57CE-C74475651A53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Opens count resource_view events; viewers deduplicate signed-in or anonymous actors.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Repeat viewers are signed-in users with at least two opens.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Resources sort by viewers, then starters, opens, and completed users.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5A5D70-BEBD-614F-01F6-DE6CF324B430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C462A-8AD8-EE81-1578-8243B221539C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5ECE2-CC49-363C-D31C-9D8C519C4413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Starter completion rate = completed users / starter users x 100. Average progress uses each starter pair's maximum observed progress.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3B8896-0DED-B003-79B6-44E0BC288B5D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B3D3D5-7E67-CCA0-DA3B-0260036973EE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32E03F-7696-B2F5-5637-0A3ED75A1DA7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C32914-559B-705C-8669-5C0E17F847C1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panel to distinguish discoverability problems from progress or completion problems.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2B5D0D8-073A-0D30-C4DE-C0E5145E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27" y="1707540"/>
            <a:ext cx="4873773" cy="346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2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4737D4-1221-E1D4-C39B-26F8C85BA54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246CE-0938-A0CB-C1FD-6989AC0CF84F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USER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2241F-5DDC-35AD-D4C8-145DB0DD5F05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Most Engaged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20A14-89ED-CE00-8E18-8C196A7EFD20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42D622-9E5A-5D16-D236-73C2E0B98FF4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5464E-CCE9-BC3B-3D73-3AD2E78C7F8A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E4CCA-7D20-F3CB-C413-AB3A32B97453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C1C15-73DC-7F81-C88B-FD0781EBE1EC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admin-only list identifies signed-in users showing the strongest course progress during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43D3D5-D188-4E4C-DAD3-E50BB7732022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45E9F-8979-2D86-4760-9D4335B614C7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761AB-8942-D37E-5159-3DCEC08E7771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Name/email, last seen time, paid badge, resources, maximum progress, completed resources, and visible time.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10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prioritization view for understanding behavior or supportive follow-up.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73439-CB4F-6402-C7A1-2E1884E3B05D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9B104-1091-BE69-9F5A-7FDE3A2B5296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91485-5003-9AB5-5B48-732E5194098E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Users rank lexicographically by completions, distinct resources, maximum progress, then visible time.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Visible time sums capped resource heartbeat/session-end increments.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ordering is not a weighted score or assessment of ability.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66728C-2109-3A52-A092-38792DE2DAD3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91873-0D54-BF86-4D2A-3D23B9874A30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066A9-B379-1D68-AFB9-33B2FCBC61FE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Each row is built from one signed-in user's selected-course signals. Maximum progress is the highest observed value across their resources.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085C47-6853-4B12-429E-BE0B63634052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9A6514-88CE-496C-D4BE-6D18F9DFB277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BC6E76-44DF-1190-E540-CC340A3D8767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DA0EA0-9A7D-7416-5310-BBDBE04A4E6F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the list for context and support, never for automated high-stakes learner decisions.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51E32F-8D8D-E530-A7E9-9BC7F97A2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833" y="1399156"/>
            <a:ext cx="4653067" cy="408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4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A8805-FD65-08F1-2692-02B0C57DB2A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CD5A7-E779-DF94-EF91-EA2D27389FE2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REACH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5C281-0F27-B173-974A-E19AA566ED0B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Course Engagement Funnel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46278-7A44-C700-48A7-FAF124E66A7A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DB7CE2-1FD9-58FA-775F-589FD1DB883C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88F7D-CE19-5FF4-7954-BADBE3E35DBC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42D8E-836D-FA23-7DCA-289241C49669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F1BDF-E4B0-3146-186F-0450320AA7E4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The funnel compares how many signed-in users reached increasingly substantive engagement states during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AE7CE8-F669-DE83-3E7B-BA1DE2007347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D0FA4-11C1-500F-E9F9-EDADA90BC58E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8A1AF-0A5A-2DCA-F5EE-48856C1F2D0B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Signed-in active.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Course active.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Meaningfully engaged.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Completed a resource.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DC3158-A64B-DF12-7F82-92356AF3FA58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35D7C-1D49-C108-E211-BF77B7CC2DA7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A9DE9-6ABB-2085-5CBB-0019E7B9ED89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Every row shows users and a percentage of signed-in active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Percentages are not calculated step-to-step.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display measures period reach and does not establish event order.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A83461-1A3C-36AD-FB21-90B063EF4308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D7AB9-5773-A4B8-17A0-C5084BFA8627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9ACF42-87C7-737F-D9C2-E3A8BB2B5571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Level percentage = users at level / signed-in active users x 100. Signed-in active is always the common denominator.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B34DB5-8DCD-4A7B-B5E6-5DC78DEF3AF6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4093FF-333C-8BCB-068E-250EB66CB2D2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46E6B-D373-096A-91A1-2F92119DA081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36CFCC-AFD2-B896-8877-8B30E2180111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to locate the largest reach gap, not as proof of an ordered conversion journey.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7AE9C93-AA74-7E1D-69F5-4D047DDF1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8833" y="1784322"/>
            <a:ext cx="4653067" cy="33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63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9FE184-AB0F-04D7-896F-B258F79B039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E6B53-64D0-38D0-D09D-1D6599FBE4D2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ACQUISITION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CF30B-2AAE-6184-4C6A-879A671C83CE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Campaign Acquisition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5014F-85D8-D173-58D0-CDEF16E47A05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E2783-1B84-28F5-CDEA-911ED19FAB02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BF4CA-5704-E57D-E7BA-122A6B42B0DA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BB0D0-4D5E-9AA7-C34C-7AE8108F76D8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A30E9-AAFE-559D-904E-10755A1AB9BA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panel connects the first page view of a browser session with later signed-in and course activity in that same session.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AD8B6-33B7-01FB-94E1-3E9C31EB90CC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BE01E-604F-111F-9D36-7056482FB062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6FF0DC-6019-4B63-91AE-739274B8BD83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Source, medium, campaign, sessions, visitors, signed-in users, and course-active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10 attribution groups.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UTM campaigns, external referrers, and Direct traffic.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2E0211-5895-2045-85AC-E1CA06A97E6A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B3360-C33F-4FD0-3AA1-AF3C16922C65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A9C78-A541-ACE9-EB55-1F4DE05E2C17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UTM source/medium/campaign takes priority on the first page view.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Without UTM, the external referrer host is used; otherwise the source is Direct.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Rows sort by course-active users and then sessions.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650883-0322-EEF1-8035-AD8E05290FE0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DDDF24-70E8-3B37-E002-4A06AB351000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40C66-5CF4-E699-6E1D-B04E85711C05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Sessions are distinct session IDs; visitors are distinct actors; signed-in and course-active users are distinct signed-in IDs in attributed sessions.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BF3AEE-EB2D-CCC6-98D5-4F1D97B1F075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99D54B-8DF4-3541-EB42-4F1D546C7A93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99CEF5-6DB0-2FFD-BC5F-9DD606E9B393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E0C152-8E28-5C69-B0FF-33C6338806E2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Attribution is directional. It does not prove causation, revenue, or completed consultation outcomes.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D9F0848-9508-0027-4667-F69A4B8E0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8833" y="1794816"/>
            <a:ext cx="4653067" cy="329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50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A3E8A-E28A-D81A-A782-C953A6166E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1C3F8-3C59-CCA8-E4ED-57D32F238F64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B9B2F-937D-3617-3384-779346AF1343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Top Pages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9CF8E-C763-B03B-A701-F1A481439C35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559A5F-7590-6936-BE8F-436BEBF8678E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08DE6-A577-621F-11A4-1EE49A9631C6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8103C-F570-869F-4DC8-4009C476435A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F34F4-57D4-2B27-060C-1EE1271FD87B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panel shows which portal routes receive the most page-view activity in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80907-3515-42E4-12CF-36236B3319C4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F029B-00E3-2622-D92E-BB1E74615CCE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EC42B-4051-09E4-663B-592312916FCD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Friendly page label.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Normalized route/path.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Page-view count displayed at the right.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10 paths.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D510FE-3F8C-CFB6-204A-C2D46E51D84D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40938E-121A-6A27-AEA0-AFB85B790CDC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9785B3-F708-BDB6-34AE-FDA7DCC660D8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Page-view events are grouped after UTM and click-ID query parameters are removed.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backend also calculates unique actors for each path.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current card ranks and visibly displays the view total.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014C60-B00A-B47F-94D3-C3BD22C289E3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73AD9-ECD2-A546-0431-30D025BF0787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EB4DEF-4B65-FFDE-D132-50483C9A67CD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Page views = count of page_view events for the normalized path. One visitor can contribute several views.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8D8FF7A-7FAA-5E0A-D5B2-859A745EADEA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B8F808-685C-C95C-DE9F-0DFA57A8F094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C9FD67-A97F-6DD0-A8D7-704CDB0EBD20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CD4FEF-2B45-799B-6949-BA49C798CF39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for traffic and navigation demand; do not describe the displayed count as users.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7AC8331-9492-5EF5-4E60-7B9F4CB0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761" y="1532708"/>
            <a:ext cx="3451377" cy="371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29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C8FB11-C510-FAB2-0FA4-67E325E46AD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A8D0A-C5DD-33AF-2A24-EF202DFE99B4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95979-BD2D-7F3C-FFA8-6B78D6E515BA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Top Clicks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6EB46-B9AF-BC15-15E3-E09B40C89A5E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1919B-56BA-2F9A-4967-BFFB6A483BD6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E231D-4245-DF53-27B0-07820A77D3D8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E46CA-8275-A7CD-D01C-4DEFF6432D7B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28A19-A2A1-DE8B-912D-C09E385A4807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panel identifies the interface actions most frequently clicked during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E5E897-4259-1AB9-6AAF-26437F2AC2C5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7B02B-038D-B898-B11F-0AC12D14B7F3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3C5C7-0F4D-0E4E-53A7-281C069D24F7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Resolved action label.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Page path where the click occurred.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Click-event count.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10 label/path groups.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0E5F43-FD5D-71E6-5024-D7855A3539FC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53A0E-4F99-4394-E3A4-7F8E8DC796F9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1EB9C-DC53-D5FF-A68D-8279C754E612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Labels prefer analytics ID, accessible label, visible text, destination, then Unlabelled click.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same action on different paths remains separately identifiable.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Repeated clicks from one actor remain repeated events.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663FA9-708B-E4F7-001B-F88250477E79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564257-67D3-EA4C-51E5-080281321D76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62ED94-95CA-4A31-6ED6-2F9541E0E696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Clicks = count of click events grouped by resolved label and normalized page path.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73CFB9-22E6-4031-C136-A93810AA79E9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CC15F2-FDC4-3985-49EE-18B86F14E871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CC7C8D-C8BC-05A1-F9A4-08A7FA89F66B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055745-2A16-3D9A-194A-6BEDFE735CFD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to inspect interface demand or tracking quality, not unique-user engagement.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C381DFF-C468-F9DA-8E81-4D0C328E1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7101" y="1532708"/>
            <a:ext cx="3448697" cy="371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DE7B29-E802-A604-6400-75DC2180CF1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5C544-5C1C-3286-3D91-0E9B6D86ADF1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4C98E-209B-8A78-1AFC-BD88EDCD6265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Referrers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A4D16-AC06-F22B-1EAE-C3E4542A874D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07865-7ADA-FFC6-03A3-5028D57F5339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3E602-2650-753D-17BE-6A0B42EE292F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AAB28-09F5-2F0D-1F49-129EBA425629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8FA98-3848-B814-C60B-1202CADD6FC9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panel shows external URLs that sent page-view traffic to BeyondGrades during the selected period.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6BE371-4197-C73C-01DF-C1557A9B8902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752A8-3CBA-6D35-11A9-4E7C2BEC5224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E5190-7440-EE6A-96E8-F011798F70F7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Normalized external source URL.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Visit count for that source.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10 referrers.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67BBC2-83D7-E0FF-882A-6818A4E59FC6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3BBA03-60FE-954F-D862-B86E9D9A3C55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12E598-B8FA-23CB-E5DE-0C2529BFFEB7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Referrers are taken from page-view events.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External URLs are normalized to HTTPS before grouping.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Same-site referrers are excluded.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8F1EED-E8DC-2D92-F1C1-82F890B5C21B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DEDB72-6FDF-AF4A-D8A4-6B450F170B0D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254480-1E85-B25A-8B2E-1DE24F83C3AC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Referrer visits = count of qualifying page-view events grouped by normalized external source URL.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F4D5FC-A652-850E-1056-3FFD69E898A7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E808A4-047C-4382-39A5-D010772AB3C0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69093D-44E8-1570-195B-8135DE9BA576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57A3E3-C6DC-AB93-8F61-0A790B280DD8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as a traffic diagnostic; campaign attribution provides the richer session-level view.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522AAB4-6746-0901-12DD-7A6D24C88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761" y="1540211"/>
            <a:ext cx="3451377" cy="36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63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0B0484-1455-5BE1-C11F-6B522E26BFE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FA48D-5A38-4163-FEFC-3B5F2633D0DC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FOLLOW-UP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AB5BD-353A-FF12-FB23-2DC31998D6E9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Paid but Inactive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0F604-1634-D410-2866-0FD88D69BFA5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91ABD-E937-796A-E69B-9C07DD0343EF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FFE37-163B-1C13-AEA8-9FC4C151F172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EE744-1C0D-F491-D797-3F79F7170FF0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406E7-0902-4B0D-2CC3-1616E84E41B8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admin-only queue highlights paid-course users who had eligible access but no qualifying activity in the selected scope.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8EBD5-FC30-36D5-9FDB-022248A72295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03B68-2DC4-AAAF-29BB-0BD4E8A13BE4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A63B6-B44F-8616-3AAC-32F290F65FC2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User identity and last activity context.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Paid badge and user metrics where available.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Up to 20 eligible inactive users.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03629-34B0-8BEA-DD4B-7EBDAAFA0918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F84D0-2EFF-159A-FA20-ECBAA7EACD4E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71D21-2C69-29B4-67C3-3BAFFC5D5DE4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entitlement must overlap the reporting period.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user must not be active in an eligible selected paid course.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With All Courses selected, free-course-only activity does not remove the user.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CA0206-E451-3724-E139-5B9E7068B354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4EC51F-AB68-B473-CA89-E69EDA62FB36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BF784-7319-2EE5-F569-A2CA4D44DA10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Paid but inactive = paid eligible users minus paid activated users, excluding admins and ignored users.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156132-4E63-BD99-043C-3252031673AA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26CDEB-D7B7-56DC-9CB2-2F5221B246A6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9EC192-EC5A-A2FF-812D-4E62A2846976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09DA4-BCCB-1BA0-2E46-3B22652D74CC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for considerate support or access checks, not automatic negative judgments about a learner.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EA25BBA-AF27-621E-77AB-CFC8465C1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9771" y="1540211"/>
            <a:ext cx="3443356" cy="36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54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BC1045-2B90-63E4-AB39-55C922D4740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5EEB1-A8BB-CD4D-A714-C8CA7769E9C9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FOLLOW-UP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B5E34-4C9B-1CEC-3E66-75864C311C8E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Low 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109FB-9F7F-6650-6180-69BCEC630970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16F1C-82E1-20F0-33F1-32A58A0849AB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0EA7F-8E34-9B7F-DDAA-FDEBEBB7DD77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0F362-D3FE-3048-E5ED-A8DBA41C1C82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964D-9628-FAE8-73EB-49A1E47FD8EB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queue surfaces registered users with no tracked activity first, then signed-in users with site activity but no course activity.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52BF2-F00F-4780-7E6B-49955EF091B0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256C3-0D15-4442-D5AA-725E8CEAF7AA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FD6AF-CA9D-8D3C-70F7-0935FE4CE1E9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Name/email, last seen, paid status, and available activity metrics.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 maximum of 10 users.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Users most likely to need onboarding or technical follow-up.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C22F8B-CFDA-29C2-C055-19A059A4228D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242F51-2EA1-C23F-2832-2879323F3BA4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F93D6-42A4-2501-B215-7D3D1649B36B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Non-admin registered users with no raw event or non-reset progress event are selected first.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Remaining spaces use signed-in users with no course activity.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latter group is ordered from least resource, session, and event activity upward.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56AD37-F116-7162-88C1-B5244F9D4B44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C4AA1-6D65-EC64-E98D-409F82062070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6A1117-FC39-6E6E-8905-B9D94ABF4A51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Low Activity is a two-stage operational selection, not a KPI rate or a claim about motivation.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FDD6428-C94B-CC00-9351-E2F614583F68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E31009-0984-E600-75C2-994F8E8B382C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3DFD54-1600-4F70-14BC-317573A6AA86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115D3C-E1AA-AB96-5BF2-3B5C31BA7C10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Check access, onboarding, and user intent before deciding whether follow-up is appropriate.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F206042-D74B-58DC-B1FA-828B787C6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761" y="1548468"/>
            <a:ext cx="3451377" cy="368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0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C5A773-6BEF-4CCB-3E73-E830011B45B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95D41-2220-EBE3-AF0B-21D60A91751B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ADMINISTRATION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2F6FA-899D-BE83-7A7C-DCF528523D31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Ignored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91733-9115-6A82-E0C3-FD20A3751704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3B350-8B7B-EBA4-2F8E-C7C0593F5AEF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F56C9-E959-ED63-6A27-E2F4879AB068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0E2E9-7381-A90A-91FF-4B7A1344CE7E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7E23E-3E69-B26D-6589-D25B4F72D914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control keeps staff, internal testing, and known non-production activity from distorting dashboard results.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EDC11-D540-E22A-6A1B-90D93A781067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28670-7057-B385-AEDB-11255BC1F569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C7401-D695-CFB6-63A2-0B4552974B20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Email or internal user-ID input.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Optional reason for the exclusion.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Current ignored list with remove controls.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EFDCF5-D369-EF08-AFC1-37E9C3AD0501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C47FA6-1454-D3A0-8759-33B17D1C3A32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496F8-7EA4-B2E9-CA69-5E42F4217575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Adding or removing an entry invalidates and recalculates analytics rollups.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Matches can use internal user ID, Clerk ID, or email in stored exclusions.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demo view explains that edits require the live admin API.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58B0AD-D29E-F4AD-C8F7-861AEADE6965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57112-06F5-A395-CC9A-3F2D6E8F8352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981670-60D7-0FF5-5001-24C74EAC4DA4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Ignored users are removed from user records, raw events, progress history, KPI rollups, and follow-up queues before metrics are calculated.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D15C16D-CC1B-B28B-D1EB-5F448087180A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CDCAB4-4517-D361-65F0-0D688FE93349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DC24F3-28AC-6986-EDD5-8D2956C2A3D5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CA75F-1D98-CD20-FAD4-895D719D7AD4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Maintain reasons and review the list periodically; exclusions have a large effect in a small user base.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360E1E6-D8E4-65E2-1264-711992293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6470" y="1540211"/>
            <a:ext cx="3429959" cy="36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62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5E7F53-B97A-7E9B-6F85-74156F88A94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90BEA-D657-17BC-10E8-CA3E79646860}"/>
              </a:ext>
            </a:extLst>
          </p:cNvPr>
          <p:cNvSpPr txBox="1"/>
          <p:nvPr/>
        </p:nvSpPr>
        <p:spPr>
          <a:xfrm>
            <a:off x="533400" y="304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5E772F-F10D-51B3-8A21-1EF30AD58C5A}"/>
              </a:ext>
            </a:extLst>
          </p:cNvPr>
          <p:cNvSpPr txBox="1"/>
          <p:nvPr/>
        </p:nvSpPr>
        <p:spPr>
          <a:xfrm>
            <a:off x="533400" y="53340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500" b="1">
                <a:solidFill>
                  <a:srgbClr val="1C1F2B"/>
                </a:solidFill>
                <a:latin typeface="Georgia" panose="02040502050405020303" pitchFamily="18" charset="0"/>
              </a:rPr>
              <a:t>Recent 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43D1A-338D-C1C8-85DC-44E01B6066AD}"/>
              </a:ext>
            </a:extLst>
          </p:cNvPr>
          <p:cNvSpPr txBox="1"/>
          <p:nvPr/>
        </p:nvSpPr>
        <p:spPr>
          <a:xfrm>
            <a:off x="11391900" y="3556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000">
                <a:solidFill>
                  <a:srgbClr val="7E8494"/>
                </a:solidFill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4836B-78C6-127C-9BF6-D108B1744B45}"/>
              </a:ext>
            </a:extLst>
          </p:cNvPr>
          <p:cNvSpPr/>
          <p:nvPr/>
        </p:nvSpPr>
        <p:spPr>
          <a:xfrm>
            <a:off x="533400" y="6565900"/>
            <a:ext cx="11125200" cy="12700"/>
          </a:xfrm>
          <a:prstGeom prst="rect">
            <a:avLst/>
          </a:prstGeom>
          <a:solidFill>
            <a:srgbClr val="DCDF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3C478-BA7F-263A-C320-477E53BED41E}"/>
              </a:ext>
            </a:extLst>
          </p:cNvPr>
          <p:cNvSpPr txBox="1"/>
          <p:nvPr/>
        </p:nvSpPr>
        <p:spPr>
          <a:xfrm>
            <a:off x="533400" y="661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BeyondGrades Learning &amp; Growth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11DAF-01AE-693B-32E1-05EBD56D4288}"/>
              </a:ext>
            </a:extLst>
          </p:cNvPr>
          <p:cNvSpPr txBox="1"/>
          <p:nvPr/>
        </p:nvSpPr>
        <p:spPr>
          <a:xfrm>
            <a:off x="8890000" y="66167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800">
                <a:solidFill>
                  <a:srgbClr val="7E8494"/>
                </a:solidFill>
                <a:latin typeface="Aptos" panose="020B0004020202020204" pitchFamily="34" charset="0"/>
              </a:rPr>
              <a:t>All periods use Asia/Singapore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2F87D-DF73-2FA4-7662-CAFB4580F551}"/>
              </a:ext>
            </a:extLst>
          </p:cNvPr>
          <p:cNvSpPr txBox="1"/>
          <p:nvPr/>
        </p:nvSpPr>
        <p:spPr>
          <a:xfrm>
            <a:off x="533400" y="1155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450">
                <a:solidFill>
                  <a:srgbClr val="1C1F2B"/>
                </a:solidFill>
                <a:latin typeface="Aptos" panose="020B0004020202020204" pitchFamily="34" charset="0"/>
              </a:rPr>
              <a:t>This raw-event feed lets administrators sanity-check what the tracker is recording without treating individual events as aggregate metrics.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CAFB6-28E1-67F6-E665-54917D8FE014}"/>
              </a:ext>
            </a:extLst>
          </p:cNvPr>
          <p:cNvSpPr/>
          <p:nvPr/>
        </p:nvSpPr>
        <p:spPr>
          <a:xfrm>
            <a:off x="533400" y="18923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3BE49-DAF3-C1D2-E9E8-85A1920DD78D}"/>
              </a:ext>
            </a:extLst>
          </p:cNvPr>
          <p:cNvSpPr txBox="1"/>
          <p:nvPr/>
        </p:nvSpPr>
        <p:spPr>
          <a:xfrm>
            <a:off x="673100" y="18796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WHAT IT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0A314C-3A14-28D9-DBD0-AD3100E34202}"/>
              </a:ext>
            </a:extLst>
          </p:cNvPr>
          <p:cNvSpPr txBox="1"/>
          <p:nvPr/>
        </p:nvSpPr>
        <p:spPr>
          <a:xfrm>
            <a:off x="533400" y="2133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Event type, user/visitor label, resource or page path, and timestamp.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Newest events first.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panel currently displays the latest 12 rows.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081AF-C983-BBBC-88B7-C8CA5C877CF0}"/>
              </a:ext>
            </a:extLst>
          </p:cNvPr>
          <p:cNvSpPr/>
          <p:nvPr/>
        </p:nvSpPr>
        <p:spPr>
          <a:xfrm>
            <a:off x="533400" y="3263900"/>
            <a:ext cx="50800" cy="1270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83400D-2B65-15BD-FF75-7EC8D6DBF5CE}"/>
              </a:ext>
            </a:extLst>
          </p:cNvPr>
          <p:cNvSpPr txBox="1"/>
          <p:nvPr/>
        </p:nvSpPr>
        <p:spPr>
          <a:xfrm>
            <a:off x="673100" y="3251200"/>
            <a:ext cx="488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5D6374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42115-BAC7-2A3B-2372-E513F5A021F8}"/>
              </a:ext>
            </a:extLst>
          </p:cNvPr>
          <p:cNvSpPr txBox="1"/>
          <p:nvPr/>
        </p:nvSpPr>
        <p:spPr>
          <a:xfrm>
            <a:off x="533400" y="3505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service prepares up to the latest 25 non-ignored raw events in the period.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The website renders the first 12 of that response.</a:t>
            </a:r>
          </a:p>
          <a:p>
            <a:r>
              <a:rPr lang="en-GB" sz="1150">
                <a:solidFill>
                  <a:srgbClr val="5D6374"/>
                </a:solidFill>
                <a:latin typeface="Aptos" panose="020B0004020202020204" pitchFamily="34" charset="0"/>
              </a:rPr>
              <a:t>- User and resource labels are added where matching records exist.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1E1677-3041-B5C9-6547-A6EE9AC68E26}"/>
              </a:ext>
            </a:extLst>
          </p:cNvPr>
          <p:cNvSpPr/>
          <p:nvPr/>
        </p:nvSpPr>
        <p:spPr>
          <a:xfrm>
            <a:off x="533400" y="4622800"/>
            <a:ext cx="5461000" cy="1422400"/>
          </a:xfrm>
          <a:prstGeom prst="roundRect">
            <a:avLst>
              <a:gd name="adj" fmla="val 8000"/>
            </a:avLst>
          </a:prstGeom>
          <a:solidFill>
            <a:srgbClr val="EFEEFC"/>
          </a:solidFill>
          <a:ln w="12700">
            <a:solidFill>
              <a:srgbClr val="EFEE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9B43FB-F7FC-0042-18EF-046CB590B3B4}"/>
              </a:ext>
            </a:extLst>
          </p:cNvPr>
          <p:cNvSpPr txBox="1"/>
          <p:nvPr/>
        </p:nvSpPr>
        <p:spPr>
          <a:xfrm>
            <a:off x="711200" y="4775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900" b="1">
                <a:solidFill>
                  <a:srgbClr val="4B46B2"/>
                </a:solidFill>
                <a:latin typeface="Aptos" panose="020B0004020202020204" pitchFamily="34" charset="0"/>
              </a:rPr>
              <a:t>CALCULATION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FFE027-CADF-EFD1-E818-A9FB450132D6}"/>
              </a:ext>
            </a:extLst>
          </p:cNvPr>
          <p:cNvSpPr txBox="1"/>
          <p:nvPr/>
        </p:nvSpPr>
        <p:spPr>
          <a:xfrm>
            <a:off x="711200" y="5029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150">
                <a:solidFill>
                  <a:srgbClr val="1C1F2B"/>
                </a:solidFill>
                <a:latin typeface="Aptos" panose="020B0004020202020204" pitchFamily="34" charset="0"/>
              </a:rPr>
              <a:t>Recent Activity is ordered by occurred_at descending after period and ignored-user filtering. It is not deduplicated into users or sessions.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73F1F7-4566-AC4F-02CD-89CCBE712C48}"/>
              </a:ext>
            </a:extLst>
          </p:cNvPr>
          <p:cNvSpPr/>
          <p:nvPr/>
        </p:nvSpPr>
        <p:spPr>
          <a:xfrm>
            <a:off x="6451600" y="5689600"/>
            <a:ext cx="5207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20BE67-B568-EE3D-B56D-1FF4D79C1761}"/>
              </a:ext>
            </a:extLst>
          </p:cNvPr>
          <p:cNvSpPr/>
          <p:nvPr/>
        </p:nvSpPr>
        <p:spPr>
          <a:xfrm>
            <a:off x="6451600" y="5689600"/>
            <a:ext cx="63500" cy="685800"/>
          </a:xfrm>
          <a:prstGeom prst="rect">
            <a:avLst/>
          </a:prstGeom>
          <a:solidFill>
            <a:srgbClr val="4B46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FE91EA-DE71-C7A4-940B-FC9D869C191D}"/>
              </a:ext>
            </a:extLst>
          </p:cNvPr>
          <p:cNvSpPr txBox="1"/>
          <p:nvPr/>
        </p:nvSpPr>
        <p:spPr>
          <a:xfrm>
            <a:off x="6680200" y="5803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850" b="1">
                <a:solidFill>
                  <a:srgbClr val="4B46B2"/>
                </a:solidFill>
                <a:latin typeface="Aptos" panose="020B0004020202020204" pitchFamily="34" charset="0"/>
              </a:rPr>
              <a:t>MANAGEMENT TAKEAWAY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30A45F-A642-15C1-851A-73435275F49B}"/>
              </a:ext>
            </a:extLst>
          </p:cNvPr>
          <p:cNvSpPr txBox="1"/>
          <p:nvPr/>
        </p:nvSpPr>
        <p:spPr>
          <a:xfrm>
            <a:off x="6680200" y="60071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050">
                <a:solidFill>
                  <a:srgbClr val="5D6374"/>
                </a:solidFill>
                <a:latin typeface="Aptos" panose="020B0004020202020204" pitchFamily="34" charset="0"/>
              </a:rPr>
              <a:t>Use this panel to verify instrumentation and investigate anomalies, not to measure performance by itself.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262C173-FFA2-A2D9-ADD1-4E68F9AAF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944" y="1524859"/>
            <a:ext cx="4374111" cy="347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2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3465</Words>
  <Application>Microsoft Office PowerPoint</Application>
  <PresentationFormat>Widescreen</PresentationFormat>
  <Paragraphs>409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 Yap</dc:creator>
  <cp:lastModifiedBy>Shen Yap</cp:lastModifiedBy>
  <cp:revision>2</cp:revision>
  <dcterms:created xsi:type="dcterms:W3CDTF">2026-08-16T09:51:19Z</dcterms:created>
  <dcterms:modified xsi:type="dcterms:W3CDTF">2026-08-16T12:51:33Z</dcterms:modified>
</cp:coreProperties>
</file>